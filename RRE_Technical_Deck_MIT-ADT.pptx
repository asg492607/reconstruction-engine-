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331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30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76221-5B32-47D4-8A34-10857D9CE217}" v="1" dt="2026-10-11T05:30:57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922" y="72"/>
      </p:cViewPr>
      <p:guideLst>
        <p:guide orient="horz" pos="163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11_13Atharva Gandhi" userId="5d01c358b8f084ce" providerId="LiveId" clId="{B22B9BB7-8C23-4829-8267-DA4A2D9956CA}"/>
    <pc:docChg chg="modSld">
      <pc:chgData name="SY11_13Atharva Gandhi" userId="5d01c358b8f084ce" providerId="LiveId" clId="{B22B9BB7-8C23-4829-8267-DA4A2D9956CA}" dt="2026-10-11T05:30:57.183" v="0"/>
      <pc:docMkLst>
        <pc:docMk/>
      </pc:docMkLst>
      <pc:sldChg chg="modNotes">
        <pc:chgData name="SY11_13Atharva Gandhi" userId="5d01c358b8f084ce" providerId="LiveId" clId="{B22B9BB7-8C23-4829-8267-DA4A2D9956CA}" dt="2026-10-11T05:30:57.183" v="0"/>
        <pc:sldMkLst>
          <pc:docMk/>
          <pc:sldMk cId="0" sldId="341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Language</c:v>
                </c:pt>
              </c:strCache>
            </c:strRef>
          </c:tx>
          <c:dPt>
            <c:idx val="0"/>
            <c:bubble3D val="0"/>
            <c:spPr>
              <a:solidFill>
                <a:srgbClr val="A93296"/>
              </a:solidFill>
            </c:spPr>
            <c:extLst>
              <c:ext xmlns:c16="http://schemas.microsoft.com/office/drawing/2014/chart" uri="{C3380CC4-5D6E-409C-BE32-E72D297353CC}">
                <c16:uniqueId val="{00000001-8D51-4D80-ADD4-357371C2A777}"/>
              </c:ext>
            </c:extLst>
          </c:dPt>
          <c:dPt>
            <c:idx val="1"/>
            <c:bubble3D val="0"/>
            <c:spPr>
              <a:solidFill>
                <a:srgbClr val="F28739"/>
              </a:solidFill>
            </c:spPr>
            <c:extLst>
              <c:ext xmlns:c16="http://schemas.microsoft.com/office/drawing/2014/chart" uri="{C3380CC4-5D6E-409C-BE32-E72D297353CC}">
                <c16:uniqueId val="{00000003-8D51-4D80-ADD4-357371C2A777}"/>
              </c:ext>
            </c:extLst>
          </c:dPt>
          <c:dPt>
            <c:idx val="2"/>
            <c:bubble3D val="0"/>
            <c:spPr>
              <a:solidFill>
                <a:srgbClr val="03A782"/>
              </a:solidFill>
            </c:spPr>
            <c:extLst>
              <c:ext xmlns:c16="http://schemas.microsoft.com/office/drawing/2014/chart" uri="{C3380CC4-5D6E-409C-BE32-E72D297353CC}">
                <c16:uniqueId val="{00000005-8D51-4D80-ADD4-357371C2A777}"/>
              </c:ext>
            </c:extLst>
          </c:dPt>
          <c:dPt>
            <c:idx val="3"/>
            <c:bubble3D val="0"/>
            <c:spPr>
              <a:solidFill>
                <a:srgbClr val="2E1A3A"/>
              </a:solidFill>
            </c:spPr>
            <c:extLst>
              <c:ext xmlns:c16="http://schemas.microsoft.com/office/drawing/2014/chart" uri="{C3380CC4-5D6E-409C-BE32-E72D297353CC}">
                <c16:uniqueId val="{00000007-8D51-4D80-ADD4-357371C2A777}"/>
              </c:ext>
            </c:extLst>
          </c:dPt>
          <c:cat>
            <c:strRef>
              <c:f>Sheet1!$A$2:$A$5</c:f>
              <c:strCache>
                <c:ptCount val="4"/>
                <c:pt idx="0">
                  <c:v>Python 69%</c:v>
                </c:pt>
                <c:pt idx="1">
                  <c:v>JavaScript 29.1%</c:v>
                </c:pt>
                <c:pt idx="2">
                  <c:v>CSS 1.7%</c:v>
                </c:pt>
                <c:pt idx="3">
                  <c:v>HTML 0.2%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29.1</c:v>
                </c:pt>
                <c:pt idx="2">
                  <c:v>1.7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D51-4D80-ADD4-357371C2A7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2B2230"/>
              </a:solidFill>
              <a:latin typeface="Arial" panose="020B0704020202020204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b24a36c-79e3-4a4e-8f5c-c23ee3572c2d}"/>
      </c:ext>
    </c:extLst>
  </c:chart>
  <c:txPr>
    <a:bodyPr/>
    <a:lstStyle/>
    <a:p>
      <a:pPr>
        <a:defRPr lang="en-US"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Introduce RRE 2.0 as an evidence-handling pipeline first and an AI system second.</a:t>
            </a:r>
          </a:p>
        </p:txBody>
      </p:sp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FastAPI with async SQLAlchemy on the backend, React 19 with Vite on the frontend, Gemini for AI, Firebase for identity.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Intake preserves and routes evidence, analysis creates observations, correlation aligns sources, reasoning builds and challenges hypotheses, every path ends in human review.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hash is computed at intake, before any analysis. Downstream layers cite the vault record.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conclusion can only be as strong as the layers beneath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Identity from Firebase, authorization attribute-based, routing uses the same policy layer. Legal review is read-only.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graphic, not case data.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Layer 1 is deterministic. Layer 2 argues against the hypothesis. Level descriptions are illustrative wording.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Integrity, access and first-pass validation are deterministic. Gemini handles adversarial review and the copilot. Humans own verification.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17 suites pass. Codebase split is from the GitHub language bar.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terminals: FastAPI on 8000 and Vite on 5173.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three takeaways.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7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9"/>
          <p:cNvSpPr txBox="1">
            <a:spLocks noGrp="1"/>
          </p:cNvSpPr>
          <p:nvPr>
            <p:ph type="title"/>
          </p:nvPr>
        </p:nvSpPr>
        <p:spPr>
          <a:xfrm>
            <a:off x="658901" y="354139"/>
            <a:ext cx="7938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9"/>
          <p:cNvSpPr txBox="1">
            <a:spLocks noGrp="1"/>
          </p:cNvSpPr>
          <p:nvPr>
            <p:ph type="body" idx="1"/>
          </p:nvPr>
        </p:nvSpPr>
        <p:spPr>
          <a:xfrm>
            <a:off x="546610" y="2110549"/>
            <a:ext cx="7901400" cy="23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endParaRPr/>
          </a:p>
        </p:txBody>
      </p:sp>
      <p:sp>
        <p:nvSpPr>
          <p:cNvPr id="21" name="Google Shape;21;p7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None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endParaRPr/>
          </a:p>
        </p:txBody>
      </p:sp>
      <p:sp>
        <p:nvSpPr>
          <p:cNvPr id="22" name="Google Shape;22;p7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b Introduction">
  <p:cSld name="Lab 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0"/>
          <p:cNvSpPr txBox="1">
            <a:spLocks noGrp="1"/>
          </p:cNvSpPr>
          <p:nvPr>
            <p:ph type="sldNum" idx="12"/>
          </p:nvPr>
        </p:nvSpPr>
        <p:spPr>
          <a:xfrm>
            <a:off x="8602042" y="4926308"/>
            <a:ext cx="363196" cy="19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5" name="Google Shape;25;p80"/>
          <p:cNvSpPr txBox="1">
            <a:spLocks noGrp="1"/>
          </p:cNvSpPr>
          <p:nvPr>
            <p:ph type="ctrTitle"/>
          </p:nvPr>
        </p:nvSpPr>
        <p:spPr>
          <a:xfrm>
            <a:off x="182699" y="219075"/>
            <a:ext cx="2970732" cy="1400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00">
                <a:solidFill>
                  <a:schemeClr val="lt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0"/>
          <p:cNvSpPr txBox="1">
            <a:spLocks noGrp="1"/>
          </p:cNvSpPr>
          <p:nvPr>
            <p:ph type="body" idx="1"/>
          </p:nvPr>
        </p:nvSpPr>
        <p:spPr>
          <a:xfrm>
            <a:off x="3444477" y="219075"/>
            <a:ext cx="5517091" cy="460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100">
                <a:solidFill>
                  <a:schemeClr val="lt2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00"/>
              <a:buChar char="○"/>
              <a:defRPr sz="1800">
                <a:solidFill>
                  <a:schemeClr val="lt2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00"/>
              <a:buChar char="■"/>
              <a:defRPr sz="1500">
                <a:solidFill>
                  <a:schemeClr val="lt2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00"/>
              <a:buChar char="●"/>
              <a:defRPr sz="1350">
                <a:solidFill>
                  <a:schemeClr val="lt2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00"/>
              <a:buChar char="○"/>
              <a:defRPr sz="1350">
                <a:solidFill>
                  <a:schemeClr val="lt2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8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44" name="Google Shape;44;p8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8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8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0" name="Google Shape;50;p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8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endParaRPr/>
          </a:p>
        </p:txBody>
      </p:sp>
      <p:sp>
        <p:nvSpPr>
          <p:cNvPr id="7" name="Google Shape;7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7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endParaRPr/>
          </a:p>
        </p:txBody>
      </p:sp>
      <p:sp>
        <p:nvSpPr>
          <p:cNvPr id="8" name="Google Shape;8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"/>
          <p:cNvPicPr preferRelativeResize="0"/>
          <p:nvPr/>
        </p:nvPicPr>
        <p:blipFill rotWithShape="1">
          <a:blip r:embed="rId3"/>
          <a:srcRect b="2862"/>
          <a:stretch>
            <a:fillRect/>
          </a:stretch>
        </p:blipFill>
        <p:spPr>
          <a:xfrm>
            <a:off x="-17210" y="-12546"/>
            <a:ext cx="9161211" cy="515604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"/>
          <p:cNvSpPr txBox="1">
            <a:spLocks noGrp="1"/>
          </p:cNvSpPr>
          <p:nvPr>
            <p:ph type="ctrTitle"/>
          </p:nvPr>
        </p:nvSpPr>
        <p:spPr>
          <a:xfrm>
            <a:off x="914400" y="1097280"/>
            <a:ext cx="6766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  <a:buSzPts val="6000"/>
            </a:pPr>
            <a:r>
              <a:rPr sz="3200" b="1">
                <a:solidFill>
                  <a:srgbClr val="2E1A3A"/>
                </a:solidFill>
                <a:latin typeface="Arial" panose="020B0704020202020204"/>
              </a:rPr>
              <a:t>Reality Reconstruction Engine</a:t>
            </a:r>
          </a:p>
        </p:txBody>
      </p:sp>
      <p:sp>
        <p:nvSpPr>
          <p:cNvPr id="140" name="Google Shape;140;p1"/>
          <p:cNvSpPr txBox="1">
            <a:spLocks noGrp="1"/>
          </p:cNvSpPr>
          <p:nvPr>
            <p:ph type="subTitle" idx="1"/>
          </p:nvPr>
        </p:nvSpPr>
        <p:spPr>
          <a:xfrm>
            <a:off x="914400" y="2468880"/>
            <a:ext cx="6766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0" indent="0" algn="ctr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sz="1600" b="1">
                <a:solidFill>
                  <a:srgbClr val="A93296"/>
                </a:solidFill>
                <a:latin typeface="Arial" panose="020B0704020202020204"/>
              </a:rPr>
              <a:t>Evidence Intelligence &amp; Theft Reconstruction Platform</a:t>
            </a:r>
          </a:p>
          <a:p>
            <a:pPr algn="ctr"/>
            <a:endParaRPr sz="1300">
              <a:solidFill>
                <a:srgbClr val="6B5B73"/>
              </a:solidFill>
              <a:latin typeface="Courier New" panose="02070609020205020404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0" y="0"/>
            <a:ext cx="81826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rmAutofit/>
          </a:bodyPr>
          <a:lstStyle/>
          <a:p>
            <a:pPr algn="ctr">
              <a:lnSpc>
                <a:spcPct val="90000"/>
              </a:lnSpc>
              <a:buSzPts val="2400"/>
            </a:pPr>
            <a:r>
              <a:rPr lang="en-US" sz="18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MIT Art Design and Technology University</a:t>
            </a:r>
            <a:endParaRPr sz="2025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90000"/>
              </a:lnSpc>
              <a:buSzPts val="3100"/>
            </a:pPr>
            <a:r>
              <a:rPr lang="en-US" sz="2325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MIT School of Computing, Pune</a:t>
            </a:r>
            <a:endParaRPr sz="2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1285128" y="4200525"/>
            <a:ext cx="658869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buClr>
                <a:srgbClr val="CC00CC"/>
              </a:buClr>
              <a:buSzPct val="100000"/>
            </a:pPr>
            <a:endParaRPr sz="21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5" name="Google Shape;145;p1"/>
          <p:cNvSpPr txBox="1"/>
          <p:nvPr/>
        </p:nvSpPr>
        <p:spPr>
          <a:xfrm>
            <a:off x="914400" y="338328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FF0000"/>
              </a:buClr>
              <a:buSzPts val="3000"/>
            </a:pPr>
            <a:r>
              <a:rPr sz="1200" b="1">
                <a:solidFill>
                  <a:srgbClr val="2B2230"/>
                </a:solidFill>
                <a:latin typeface="Arial" panose="020B0704020202020204"/>
              </a:rPr>
              <a:t>Vaibhav Bariyar  ·  Bhakti Unhale  ·  Shruti Jadhav  ·  Atharva Gandhi</a:t>
            </a:r>
            <a:endParaRPr sz="225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/>
            <a:r>
              <a:rPr sz="1100">
                <a:solidFill>
                  <a:srgbClr val="6B5B73"/>
                </a:solidFill>
                <a:latin typeface="Arial" panose="020B0704020202020204"/>
              </a:rPr>
              <a:t>Faculty Guide: Dr. Nilesh Thorat   |   Group ID: TYAIA211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Tech stack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02 ·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73609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3296"/>
                </a:solidFill>
                <a:latin typeface="Courier New" panose="02070609020205020404"/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216151"/>
            <a:ext cx="779068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React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9308" y="1216151"/>
            <a:ext cx="643737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Vite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4486" y="1216151"/>
            <a:ext cx="982065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Vanilla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216151"/>
            <a:ext cx="1049731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Lucide 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49163" y="1216151"/>
            <a:ext cx="1320393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Firebase Web SDK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746504"/>
            <a:ext cx="73609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46504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3296"/>
                </a:solidFill>
                <a:latin typeface="Courier New" panose="02070609020205020404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1911095"/>
            <a:ext cx="1049731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Python 3.12+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9971" y="1911095"/>
            <a:ext cx="711403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2814" y="1911095"/>
            <a:ext cx="982065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Pydantic v2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911095"/>
            <a:ext cx="1117396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Swagger /docs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441448"/>
            <a:ext cx="73609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441448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3296"/>
                </a:solidFill>
                <a:latin typeface="Courier New" panose="02070609020205020404"/>
              </a:rPr>
              <a:t>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606040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SQLAlchemy 2.0 async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2606040"/>
            <a:ext cx="1455724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SQLite (aiosqlite)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8460" y="2606040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PostgreSQL (asyncpg)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136392"/>
            <a:ext cx="73609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136392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3296"/>
                </a:solidFill>
                <a:latin typeface="Courier New" panose="02070609020205020404"/>
              </a:rPr>
              <a:t>AI &amp; AUTH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300984"/>
            <a:ext cx="1388059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Google Gemini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08299" y="3300984"/>
            <a:ext cx="1455724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Firebase Admin SDK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5464" y="3300984"/>
            <a:ext cx="440740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JWT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831335"/>
            <a:ext cx="73609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831335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3296"/>
                </a:solidFill>
                <a:latin typeface="Courier New" panose="02070609020205020404"/>
              </a:rPr>
              <a:t>QUALITY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3995927"/>
            <a:ext cx="643737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Pytest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3977" y="3995927"/>
            <a:ext cx="1185062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Pytest-Asyncio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3995927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F7E6F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E1A3A"/>
                </a:solidFill>
                <a:latin typeface="Courier New" panose="02070609020205020404"/>
              </a:rPr>
              <a:t>HTTPX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72000"/>
            <a:ext cx="7360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6B5B73"/>
                </a:solidFill>
              </a:rPr>
              <a:t>Configurable via DATABASE_URL: SQLite (local dev) or PostgreSQL (production). Docker-ready with Gemini 1.5 Flash multimodal AI and 17 automated test suites.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03 ·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2E1A3A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1 · INTAKE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Case &amp;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21992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 panose="020B0704020202020204"/>
              </a:rPr>
              <a:t>Evidence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 panose="020B0704020202020204"/>
              </a:rPr>
              <a:t>hash + custody + 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026664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4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Classification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831336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Policy router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00784" y="3017520"/>
            <a:ext cx="164592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1874520" y="105156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2E1A3A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2 ·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20" y="1417320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1417320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Investigation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20" y="2221992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0" y="2221992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Forensics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20" y="3026664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65960" y="3026664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Financial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20" y="3831336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65960" y="394106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 panose="020B0704020202020204"/>
              </a:rPr>
              <a:t>Observations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26110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 panose="020B0704020202020204"/>
              </a:rPr>
              <a:t>one set per source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09544" y="3017520"/>
            <a:ext cx="164592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26" name="Rounded Rectangle 25"/>
          <p:cNvSpPr/>
          <p:nvPr/>
        </p:nvSpPr>
        <p:spPr>
          <a:xfrm>
            <a:off x="3383280" y="105156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2E1A3A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3 · CORRELATION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1417320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0" y="1417320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Provenance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221992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2221992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Entity / event resolution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026664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0" y="3026664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Source timelines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831336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0" y="3831336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Cross-source correlation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18304" y="3017520"/>
            <a:ext cx="164592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36" name="Rounded Rectangle 35"/>
          <p:cNvSpPr/>
          <p:nvPr/>
        </p:nvSpPr>
        <p:spPr>
          <a:xfrm>
            <a:off x="4892040" y="105156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2E1A3A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4 · REASONING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1417320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83480" y="1417320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Claims + events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2040" y="2221992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83480" y="2221992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Hypothesis generation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2040" y="3026664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83480" y="313639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Rules + AI challenge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345643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5B73"/>
                </a:solidFill>
                <a:latin typeface="Arial" panose="020B0704020202020204"/>
              </a:rPr>
              <a:t>Layer 1 and Layer 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2040" y="3831336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83480" y="3831336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Gaps &amp; conflicts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227064" y="3017520"/>
            <a:ext cx="164592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47" name="Rounded Rectangle 46"/>
          <p:cNvSpPr/>
          <p:nvPr/>
        </p:nvSpPr>
        <p:spPr>
          <a:xfrm>
            <a:off x="6400800" y="105156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2E1A3A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5 · OUTPUT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417320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1527048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 panose="020B0704020202020204"/>
              </a:rPr>
              <a:t>Human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184708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 panose="020B0704020202020204"/>
              </a:rPr>
              <a:t>final authority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2221992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2221992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Investigation copilot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3026664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026664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Evidence report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3831336"/>
            <a:ext cx="132588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3831336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Archive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4617720"/>
            <a:ext cx="7360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6B5B73"/>
                </a:solidFill>
              </a:rPr>
              <a:t>Departments analyze evidence in isolated DAG pipelines; correlation unifies independent findings once provenance is attached.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Evidence vault: integrity at 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04 · EVIDENCE VAULT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21793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234440"/>
            <a:ext cx="420624" cy="420624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08" y="1348008"/>
            <a:ext cx="193487" cy="1934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" y="1234440"/>
            <a:ext cx="13563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E1A3A"/>
                </a:solidFill>
                <a:latin typeface="Arial" panose="020B0704020202020204"/>
              </a:rPr>
              <a:t>Original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5B73"/>
                </a:solidFill>
                <a:latin typeface="Courier New" panose="02070609020205020404"/>
              </a:rPr>
              <a:t>photo, video, document, record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0799" y="1645920"/>
            <a:ext cx="320041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10" name="Rounded Rectangle 9"/>
          <p:cNvSpPr/>
          <p:nvPr/>
        </p:nvSpPr>
        <p:spPr>
          <a:xfrm>
            <a:off x="2956560" y="1051560"/>
            <a:ext cx="2179320" cy="1188720"/>
          </a:xfrm>
          <a:prstGeom prst="roundRect">
            <a:avLst>
              <a:gd name="adj" fmla="val 6923"/>
            </a:avLst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139440" y="1234440"/>
            <a:ext cx="420624" cy="420624"/>
          </a:xfrm>
          <a:prstGeom prst="ellipse">
            <a:avLst/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008" y="1348008"/>
            <a:ext cx="193487" cy="1934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9792" y="1234440"/>
            <a:ext cx="13563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 panose="020B0704020202020204"/>
              </a:rPr>
              <a:t>SHA-256 at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9440" y="1828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Courier New" panose="02070609020205020404"/>
              </a:rPr>
              <a:t>hash taken before analysis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81600" y="1645920"/>
            <a:ext cx="320040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16" name="Rounded Rectangle 15"/>
          <p:cNvSpPr/>
          <p:nvPr/>
        </p:nvSpPr>
        <p:spPr>
          <a:xfrm>
            <a:off x="5547360" y="1051560"/>
            <a:ext cx="2179320" cy="1188720"/>
          </a:xfrm>
          <a:prstGeom prst="roundRect">
            <a:avLst>
              <a:gd name="adj" fmla="val 6923"/>
            </a:avLst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30240" y="1234440"/>
            <a:ext cx="420624" cy="420624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i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808" y="1348008"/>
            <a:ext cx="193487" cy="1934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0592" y="1234440"/>
            <a:ext cx="13563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 panose="020B0704020202020204"/>
              </a:rPr>
              <a:t>Immutable vault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0240" y="1828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F7E6F4"/>
                </a:solidFill>
                <a:latin typeface="Courier New" panose="02070609020205020404"/>
              </a:rPr>
              <a:t>hash + custody + metadata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46888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48640" y="2715768"/>
            <a:ext cx="420624" cy="420624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i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08" y="2829336"/>
            <a:ext cx="193487" cy="19348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" y="260604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286207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SHA-256 computed at intake and re-verified before processing to detect any modification.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246888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297680" y="2715768"/>
            <a:ext cx="420624" cy="420624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i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1248" y="2829336"/>
            <a:ext cx="193487" cy="19348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64608" y="260604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Chain of custody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286207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Immutable audit ledger records user, IP address, and IST timestamp for every exhibit action.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52044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8640" y="3767328"/>
            <a:ext cx="420624" cy="420624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i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208" y="3880896"/>
            <a:ext cx="193487" cy="19348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15568" y="36576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Provenance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391363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Every observation retains engine ID and exhibit hash, linking findings back to source files.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352044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297680" y="3767328"/>
            <a:ext cx="420624" cy="420624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iGit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1248" y="3880896"/>
            <a:ext cx="193487" cy="19348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64608" y="36576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ABAC metadata tags route exhibits strictly to authorized departmental workstations.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4608" y="391363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ABAC metadata tags route exhibits strictly to authorized departmental workstations.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Eight layers: file to verified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05 · EVIDENTIARY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6687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1188719"/>
            <a:ext cx="292608" cy="292608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 panose="02070609020205020404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13944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92807"/>
            <a:ext cx="13944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5B73"/>
                </a:solidFill>
                <a:latin typeface="Arial" panose="020B0704020202020204"/>
              </a:rPr>
              <a:t>Original file, hashed at intake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52828" y="1755648"/>
            <a:ext cx="192024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9" name="Rounded Rectangle 8"/>
          <p:cNvSpPr/>
          <p:nvPr/>
        </p:nvSpPr>
        <p:spPr>
          <a:xfrm>
            <a:off x="2263140" y="1051560"/>
            <a:ext cx="16687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400300" y="1188719"/>
            <a:ext cx="292608" cy="292608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 panose="02070609020205020404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1618488"/>
            <a:ext cx="13944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300" y="1892807"/>
            <a:ext cx="13944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5B73"/>
                </a:solidFill>
                <a:latin typeface="Arial" panose="020B0704020202020204"/>
              </a:rPr>
              <a:t>Traceable fact extracted from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50208" y="1755648"/>
            <a:ext cx="192024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14" name="Rounded Rectangle 13"/>
          <p:cNvSpPr/>
          <p:nvPr/>
        </p:nvSpPr>
        <p:spPr>
          <a:xfrm>
            <a:off x="4160520" y="1051560"/>
            <a:ext cx="16687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97680" y="1188719"/>
            <a:ext cx="292608" cy="292608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 panose="02070609020205020404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18488"/>
            <a:ext cx="13944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892807"/>
            <a:ext cx="13944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5B73"/>
                </a:solidFill>
                <a:latin typeface="Arial" panose="020B0704020202020204"/>
              </a:rPr>
              <a:t>Specialist-recorded result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47588" y="1755648"/>
            <a:ext cx="192024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19" name="Rounded Rectangle 18"/>
          <p:cNvSpPr/>
          <p:nvPr/>
        </p:nvSpPr>
        <p:spPr>
          <a:xfrm>
            <a:off x="6057900" y="1051560"/>
            <a:ext cx="16687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95060" y="1188719"/>
            <a:ext cx="292608" cy="292608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 panose="02070609020205020404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5060" y="1618488"/>
            <a:ext cx="13944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5060" y="1892807"/>
            <a:ext cx="13944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5B73"/>
                </a:solidFill>
                <a:latin typeface="Arial" panose="020B0704020202020204"/>
              </a:rPr>
              <a:t>Statement built on findings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651760"/>
            <a:ext cx="16687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2920" y="2788920"/>
            <a:ext cx="292608" cy="292608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 panose="02070609020205020404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218688"/>
            <a:ext cx="13944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Correlated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93008"/>
            <a:ext cx="13944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5B73"/>
                </a:solidFill>
                <a:latin typeface="Arial" panose="020B0704020202020204"/>
              </a:rPr>
              <a:t>Claims aligned across time and entities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52828" y="3355848"/>
            <a:ext cx="192024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28" name="Rounded Rectangle 27"/>
          <p:cNvSpPr/>
          <p:nvPr/>
        </p:nvSpPr>
        <p:spPr>
          <a:xfrm>
            <a:off x="2263140" y="2651760"/>
            <a:ext cx="16687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400300" y="2788920"/>
            <a:ext cx="292608" cy="292608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 panose="02070609020205020404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0300" y="3218688"/>
            <a:ext cx="13944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Candidate entity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0300" y="3493008"/>
            <a:ext cx="13944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5B73"/>
                </a:solidFill>
                <a:latin typeface="Arial" panose="020B0704020202020204"/>
              </a:rPr>
              <a:t>Observation cluster; link confirmed by a human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50208" y="3355848"/>
            <a:ext cx="192024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33" name="Rounded Rectangle 32"/>
          <p:cNvSpPr/>
          <p:nvPr/>
        </p:nvSpPr>
        <p:spPr>
          <a:xfrm>
            <a:off x="4160520" y="2651760"/>
            <a:ext cx="16687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297680" y="2788920"/>
            <a:ext cx="292608" cy="292608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 panose="02070609020205020404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218688"/>
            <a:ext cx="13944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Hypothesis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493008"/>
            <a:ext cx="13944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5B73"/>
                </a:solidFill>
                <a:latin typeface="Arial" panose="020B0704020202020204"/>
              </a:rPr>
              <a:t>Evidence-constrained explanation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847588" y="3355848"/>
            <a:ext cx="192024" cy="0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38" name="Rounded Rectangle 37"/>
          <p:cNvSpPr/>
          <p:nvPr/>
        </p:nvSpPr>
        <p:spPr>
          <a:xfrm>
            <a:off x="6057900" y="2651760"/>
            <a:ext cx="1668780" cy="1417320"/>
          </a:xfrm>
          <a:prstGeom prst="roundRect">
            <a:avLst>
              <a:gd name="adj" fmla="val 5806"/>
            </a:avLst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195060" y="2788920"/>
            <a:ext cx="292608" cy="292608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 panose="02070609020205020404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5060" y="3218688"/>
            <a:ext cx="13944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 panose="020B0704020202020204"/>
              </a:rPr>
              <a:t>Verified finding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5060" y="3493008"/>
            <a:ext cx="13944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7E6F4"/>
                </a:solidFill>
                <a:latin typeface="Arial" panose="020B0704020202020204"/>
              </a:rPr>
              <a:t>Outcome of human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343400"/>
            <a:ext cx="7360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6B5B73"/>
                </a:solidFill>
              </a:rPr>
              <a:t>Strict layer separation ensures every hypothesis claim cites verified underlying findings back to a hashed original exhibit.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Policy routing and role-based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06 · ACCESS &amp;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2651760" cy="3749039"/>
          </a:xfrm>
          <a:prstGeom prst="roundRect">
            <a:avLst>
              <a:gd name="adj" fmla="val 3103"/>
            </a:avLst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28739"/>
                </a:solidFill>
                <a:latin typeface="Courier New" panose="02070609020205020404"/>
              </a:rPr>
              <a:t>ACCESS PATH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08760"/>
            <a:ext cx="292608" cy="292608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 panose="02070609020205020404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9047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704020202020204"/>
              </a:rPr>
              <a:t>Sign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09928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7E6F4"/>
                </a:solidFill>
                <a:latin typeface="Arial" panose="020B0704020202020204"/>
              </a:rPr>
              <a:t>Firebase email + password with departmental role selection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31720"/>
            <a:ext cx="292608" cy="292608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 panose="02070609020205020404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1343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704020202020204"/>
              </a:rPr>
              <a:t>Sync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32888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7E6F4"/>
                </a:solidFill>
                <a:latin typeface="Arial" panose="020B0704020202020204"/>
              </a:rPr>
              <a:t>Firebase user mapped to a backend JWT session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54680"/>
            <a:ext cx="292608" cy="292608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 panose="02070609020205020404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3639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704020202020204"/>
              </a:rPr>
              <a:t>Authorize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55848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7E6F4"/>
                </a:solidFill>
                <a:latin typeface="Arial" panose="020B0704020202020204"/>
              </a:rPr>
              <a:t>ABAC policy checks role and evidence attributes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77639"/>
            <a:ext cx="292608" cy="292608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 panose="02070609020205020404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5935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704020202020204"/>
              </a:rPr>
              <a:t>Route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78807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7E6F4"/>
                </a:solidFill>
                <a:latin typeface="Arial" panose="020B0704020202020204"/>
              </a:rPr>
              <a:t>Policy router sends files only to authorized departments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1051560"/>
            <a:ext cx="21945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337560" y="1188719"/>
            <a:ext cx="384048" cy="384048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i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52" y="1292412"/>
            <a:ext cx="176662" cy="1766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22191" y="1188719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1A3A"/>
                </a:solidFill>
                <a:latin typeface="Arial" panose="020B0704020202020204"/>
              </a:rPr>
              <a:t>Lead Investigator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1737360"/>
            <a:ext cx="1920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 b="0" sz="850">
                <a:solidFill>
                  <a:srgbClr val="4A3E56"/>
                </a:solidFill>
              </a:rPr>
              <a:t>Case metrics &amp; engine telemetry HUD</a:t>
            </a:r>
          </a:p>
          <a:p>
            <a:pPr>
              <a:spcAft>
                <a:spcPts val="300"/>
              </a:spcAft>
            </a:pPr>
            <a:r>
              <a:rPr lang="en-US" dirty="0" b="0" sz="850">
                <a:solidFill>
                  <a:srgbClr val="4A3E56"/>
                </a:solidFill>
              </a:rPr>
              <a:t>Leading hypotheses &amp; radar gaps</a:t>
            </a:r>
          </a:p>
          <a:p>
            <a:pPr/>
            <a:r>
              <a:rPr lang="en-US" dirty="0" b="0" sz="850">
                <a:solidFill>
                  <a:srgbClr val="4A3E56"/>
                </a:solidFill>
              </a:rPr>
              <a:t>1-click DAG reconstruction dispatch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1051560"/>
            <a:ext cx="21945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669280" y="1188719"/>
            <a:ext cx="384048" cy="384048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i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972" y="1292412"/>
            <a:ext cx="176662" cy="17666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53912" y="1188719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1A3A"/>
                </a:solidFill>
                <a:latin typeface="Arial" panose="020B0704020202020204"/>
              </a:rPr>
              <a:t>Forensics Specialist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737360"/>
            <a:ext cx="1920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 b="0" sz="850">
                <a:solidFill>
                  <a:srgbClr val="4A3E56"/>
                </a:solidFill>
              </a:rPr>
              <a:t>Toolmark impression &amp; damage analysis</a:t>
            </a:r>
          </a:p>
          <a:p>
            <a:pPr>
              <a:spcAft>
                <a:spcPts val="300"/>
              </a:spcAft>
            </a:pPr>
            <a:r>
              <a:rPr lang="en-US" dirty="0" b="0" sz="850">
                <a:solidFill>
                  <a:srgbClr val="4A3E56"/>
                </a:solidFill>
              </a:rPr>
              <a:t>Assisted measurement (Gemini vision)</a:t>
            </a:r>
          </a:p>
          <a:p>
            <a:pPr/>
            <a:r>
              <a:rPr lang="en-US" dirty="0" b="0" sz="850">
                <a:solidFill>
                  <a:srgbClr val="4A3E56"/>
                </a:solidFill>
              </a:rPr>
              <a:t>Read-only custody ledger inspector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2953512"/>
            <a:ext cx="21945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337560" y="3090672"/>
            <a:ext cx="384048" cy="384048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iDollar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252" y="3194364"/>
            <a:ext cx="176662" cy="1766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22191" y="309067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1A3A"/>
                </a:solidFill>
                <a:latin typeface="Arial" panose="020B0704020202020204"/>
              </a:rPr>
              <a:t>Financial Analyst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4992" y="3639312"/>
            <a:ext cx="1920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 b="0" sz="850">
                <a:solidFill>
                  <a:srgbClr val="4A3E56"/>
                </a:solidFill>
              </a:rPr>
              <a:t>Inventory discrepancy &amp; shrinkage ledger</a:t>
            </a:r>
          </a:p>
          <a:p>
            <a:pPr>
              <a:spcAft>
                <a:spcPts val="300"/>
              </a:spcAft>
            </a:pPr>
            <a:r>
              <a:rPr lang="en-US" dirty="0" b="0" sz="850">
                <a:solidFill>
                  <a:srgbClr val="4A3E56"/>
                </a:solidFill>
              </a:rPr>
              <a:t>POS transaction vs. missing SKU audit</a:t>
            </a:r>
          </a:p>
          <a:p>
            <a:pPr/>
            <a:r>
              <a:rPr lang="en-US" dirty="0" b="0" sz="850">
                <a:solidFill>
                  <a:srgbClr val="4A3E56"/>
                </a:solidFill>
              </a:rPr>
              <a:t>Financial loss &amp; discrepancy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32120" y="2953512"/>
            <a:ext cx="21945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669280" y="3090672"/>
            <a:ext cx="384048" cy="384048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i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972" y="3194364"/>
            <a:ext cx="176662" cy="17666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53912" y="309067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1A3A"/>
                </a:solidFill>
                <a:latin typeface="Arial" panose="020B0704020202020204"/>
              </a:rPr>
              <a:t>External Legal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6712" y="3639312"/>
            <a:ext cx="1920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 b="0" sz="850">
                <a:solidFill>
                  <a:srgbClr val="4A3E56"/>
                </a:solidFill>
              </a:rPr>
              <a:t>Read-only dossier &amp; evidence review</a:t>
            </a:r>
          </a:p>
          <a:p>
            <a:pPr>
              <a:spcAft>
                <a:spcPts val="300"/>
              </a:spcAft>
            </a:pPr>
            <a:r>
              <a:rPr lang="en-US" dirty="0" b="0" sz="850">
                <a:solidFill>
                  <a:srgbClr val="4A3E56"/>
                </a:solidFill>
              </a:rPr>
              <a:t>SHA-256 verification &amp; audit history</a:t>
            </a:r>
          </a:p>
          <a:p>
            <a:pPr/>
            <a:r>
              <a:rPr lang="en-US" dirty="0" b="0" sz="850">
                <a:solidFill>
                  <a:srgbClr val="4A3E56"/>
                </a:solidFill>
              </a:rPr>
              <a:t>Signed intelligence report PDF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Cross-source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07 · CORRELATION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457200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61288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B5B73"/>
                </a:solidFill>
                <a:latin typeface="Courier New" panose="02070609020205020404"/>
              </a:rPr>
              <a:t>ILLUSTRATIVE 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7635" y="1463040"/>
            <a:ext cx="482803" cy="2697480"/>
          </a:xfrm>
          <a:prstGeom prst="roundRect">
            <a:avLst>
              <a:gd name="adj" fmla="val 5681"/>
            </a:avLst>
          </a:prstGeom>
          <a:solidFill>
            <a:srgbClr val="F28739">
              <a:alpha val="2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8497" y="1463040"/>
            <a:ext cx="362102" cy="2697480"/>
          </a:xfrm>
          <a:prstGeom prst="roundRect">
            <a:avLst>
              <a:gd name="adj" fmla="val 7575"/>
            </a:avLst>
          </a:prstGeom>
          <a:solidFill>
            <a:srgbClr val="F28739">
              <a:alpha val="2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91840" y="3474720"/>
            <a:ext cx="1146657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6B5B73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Investigation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1920240"/>
            <a:ext cx="3017520" cy="0"/>
          </a:xfrm>
          <a:prstGeom prst="line">
            <a:avLst/>
          </a:prstGeom>
          <a:ln w="9525">
            <a:solidFill>
              <a:srgbClr val="6B5B7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269747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Forensics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788920"/>
            <a:ext cx="3017520" cy="0"/>
          </a:xfrm>
          <a:prstGeom prst="line">
            <a:avLst/>
          </a:prstGeom>
          <a:ln w="9525">
            <a:solidFill>
              <a:srgbClr val="6B5B73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48640" y="356616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E1A3A"/>
                </a:solidFill>
                <a:latin typeface="Arial" panose="020B0704020202020204"/>
              </a:rPr>
              <a:t>Financial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657600"/>
            <a:ext cx="3017520" cy="0"/>
          </a:xfrm>
          <a:prstGeom prst="line">
            <a:avLst/>
          </a:prstGeom>
          <a:ln w="9525">
            <a:solidFill>
              <a:srgbClr val="6B5B73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1942185" y="1837944"/>
            <a:ext cx="164592" cy="164592"/>
          </a:xfrm>
          <a:prstGeom prst="ellipse">
            <a:avLst/>
          </a:prstGeom>
          <a:solidFill>
            <a:srgbClr val="2E1A3A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26740" y="1837944"/>
            <a:ext cx="164592" cy="164592"/>
          </a:xfrm>
          <a:prstGeom prst="ellipse">
            <a:avLst/>
          </a:prstGeom>
          <a:solidFill>
            <a:srgbClr val="2E1A3A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97603" y="1837944"/>
            <a:ext cx="164592" cy="164592"/>
          </a:xfrm>
          <a:prstGeom prst="ellipse">
            <a:avLst/>
          </a:prstGeom>
          <a:solidFill>
            <a:srgbClr val="2E1A3A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45689" y="2706624"/>
            <a:ext cx="164592" cy="164592"/>
          </a:xfrm>
          <a:prstGeom prst="ellipse">
            <a:avLst/>
          </a:prstGeom>
          <a:solidFill>
            <a:srgbClr val="2E1A3A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511296" y="2706624"/>
            <a:ext cx="164592" cy="164592"/>
          </a:xfrm>
          <a:prstGeom prst="ellipse">
            <a:avLst/>
          </a:prstGeom>
          <a:solidFill>
            <a:srgbClr val="2E1A3A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476902" y="2706624"/>
            <a:ext cx="164592" cy="164592"/>
          </a:xfrm>
          <a:prstGeom prst="ellipse">
            <a:avLst/>
          </a:prstGeom>
          <a:solidFill>
            <a:srgbClr val="2E1A3A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847441" y="3575304"/>
            <a:ext cx="164592" cy="164592"/>
          </a:xfrm>
          <a:prstGeom prst="ellipse">
            <a:avLst/>
          </a:prstGeom>
          <a:solidFill>
            <a:srgbClr val="2E1A3A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57953" y="3575304"/>
            <a:ext cx="164592" cy="164592"/>
          </a:xfrm>
          <a:prstGeom prst="ellipse">
            <a:avLst/>
          </a:prstGeom>
          <a:solidFill>
            <a:srgbClr val="2E1A3A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>
            <a:off x="3855110" y="1819656"/>
            <a:ext cx="201168" cy="182880"/>
          </a:xfrm>
          <a:prstGeom prst="triangle">
            <a:avLst/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8640" y="4407407"/>
            <a:ext cx="128016" cy="128016"/>
          </a:xfrm>
          <a:prstGeom prst="ellipse">
            <a:avLst/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5B73"/>
                </a:solidFill>
                <a:latin typeface="Arial" panose="020B0704020202020204"/>
              </a:rPr>
              <a:t>Observation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00200" y="4407407"/>
            <a:ext cx="201168" cy="137160"/>
          </a:xfrm>
          <a:prstGeom prst="roundRect">
            <a:avLst>
              <a:gd name="adj" fmla="val 13333"/>
            </a:avLst>
          </a:prstGeom>
          <a:solidFill>
            <a:srgbClr val="F28739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47088" y="43891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5B73"/>
                </a:solidFill>
                <a:latin typeface="Arial" panose="020B0704020202020204"/>
              </a:rPr>
              <a:t>Correlated event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79" y="4407407"/>
            <a:ext cx="201168" cy="1371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6B5B73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72968" y="43891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5B73"/>
                </a:solidFill>
                <a:latin typeface="Arial" panose="020B0704020202020204"/>
              </a:rPr>
              <a:t>Coverage gap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3977640" y="4398264"/>
            <a:ext cx="164592" cy="146304"/>
          </a:xfrm>
          <a:prstGeom prst="triangle">
            <a:avLst/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87952" y="438912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5B73"/>
                </a:solidFill>
                <a:latin typeface="Arial" panose="020B0704020202020204"/>
              </a:rPr>
              <a:t>Conflict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10515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SOURCE TIMELINES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289304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Independent chronological event stream generated for each evidence source (CCTV, POS, Forensics).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198424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CORRELATION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221991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X03 engine detects spatio-temporal coincidences between independent streams in shared windows.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291693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ENTITY LINKAGE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31546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X01 clusters visual tracks and descriptions into candidate entities; human investigator confirms each link.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384962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GAPS &amp; CONFLICTS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4087368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X04 flags blind spots and coverage gaps; X05 categorizes discrepancies across 7 locked conflict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Two-layer validation and support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08 · HYPOTHESIS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36576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HYP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1288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19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Synthesized from correlated claims; every claim cites verified engine outputs.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1783080"/>
            <a:ext cx="0" cy="164592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9" name="Rounded Rectangle 8"/>
          <p:cNvSpPr/>
          <p:nvPr/>
        </p:nvSpPr>
        <p:spPr>
          <a:xfrm>
            <a:off x="365760" y="1965960"/>
            <a:ext cx="36576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75688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Layer 1 ·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317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Deterministic physics checks: temporal monotonicity, velocity (&lt;4 m/s), spatial exclusivity.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2697480"/>
            <a:ext cx="0" cy="164592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14" name="Rounded Rectangle 13"/>
          <p:cNvSpPr/>
          <p:nvPr/>
        </p:nvSpPr>
        <p:spPr>
          <a:xfrm>
            <a:off x="365760" y="2880360"/>
            <a:ext cx="36576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310896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90088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1A3A"/>
                </a:solidFill>
                <a:latin typeface="Arial" panose="020B0704020202020204"/>
              </a:rPr>
              <a:t>Layer 2 · AI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461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Adversarial Gemini scrutiny acts as defense advocate, surfacing reasonable doubt and gaps.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94560" y="3611880"/>
            <a:ext cx="0" cy="164592"/>
          </a:xfrm>
          <a:prstGeom prst="line">
            <a:avLst/>
          </a:prstGeom>
          <a:ln w="19050">
            <a:solidFill>
              <a:srgbClr val="A93296"/>
            </a:solidFill>
            <a:tailEnd type="triangle"/>
          </a:ln>
        </p:spPr>
      </p:cxnSp>
      <p:sp>
        <p:nvSpPr>
          <p:cNvPr id="19" name="Rounded Rectangle 18"/>
          <p:cNvSpPr/>
          <p:nvPr/>
        </p:nvSpPr>
        <p:spPr>
          <a:xfrm>
            <a:off x="365760" y="3794760"/>
            <a:ext cx="3657600" cy="713232"/>
          </a:xfrm>
          <a:prstGeom prst="roundRect">
            <a:avLst>
              <a:gd name="adj" fmla="val 11538"/>
            </a:avLst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" y="402336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287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904488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 panose="020B0704020202020204"/>
              </a:rPr>
              <a:t>Gaps, conflicts, 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605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Rated with citations, gaps, and contradictions, then dispatched for human specialist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051560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EVIDENCE SUPPORT LEVEL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1325880"/>
            <a:ext cx="3383280" cy="502920"/>
          </a:xfrm>
          <a:prstGeom prst="roundRect">
            <a:avLst>
              <a:gd name="adj" fmla="val 16363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62272" y="1435607"/>
            <a:ext cx="1097280" cy="283464"/>
          </a:xfrm>
          <a:prstGeom prst="roundRect">
            <a:avLst>
              <a:gd name="adj" fmla="val 50000"/>
            </a:avLst>
          </a:prstGeom>
          <a:solidFill>
            <a:srgbClr val="03A78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325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Multi-source corroboration, zero unresolved contradictions.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1929384"/>
            <a:ext cx="3383280" cy="502920"/>
          </a:xfrm>
          <a:prstGeom prst="roundRect">
            <a:avLst>
              <a:gd name="adj" fmla="val 16363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62272" y="2039112"/>
            <a:ext cx="1097280" cy="283464"/>
          </a:xfrm>
          <a:prstGeom prst="roundRect">
            <a:avLst>
              <a:gd name="adj" fmla="val 50000"/>
            </a:avLst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MODERATE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1929384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Corroborated across primary sources with minor coverage gaps.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2532888"/>
            <a:ext cx="3383280" cy="502920"/>
          </a:xfrm>
          <a:prstGeom prst="roundRect">
            <a:avLst>
              <a:gd name="adj" fmla="val 16363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62272" y="2642616"/>
            <a:ext cx="1097280" cy="283464"/>
          </a:xfrm>
          <a:prstGeom prst="roundRect">
            <a:avLst>
              <a:gd name="adj" fmla="val 50000"/>
            </a:avLst>
          </a:prstGeom>
          <a:solidFill>
            <a:srgbClr val="F287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2E1A3A"/>
                </a:solidFill>
                <a:latin typeface="Courier New" panose="02070609020205020404"/>
              </a:rPr>
              <a:t>LIMITED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53288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Single-source support or partial timeline coverage.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3136391"/>
            <a:ext cx="3383280" cy="502920"/>
          </a:xfrm>
          <a:prstGeom prst="roundRect">
            <a:avLst>
              <a:gd name="adj" fmla="val 16363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462272" y="3246120"/>
            <a:ext cx="1097280" cy="28346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SPECULATIVE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3136391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Plausible scenario lacking direct physical corroboration.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3840480"/>
            <a:ext cx="3383280" cy="777240"/>
          </a:xfrm>
          <a:prstGeom prst="roundRect">
            <a:avLst>
              <a:gd name="adj" fmla="val 10588"/>
            </a:avLst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384048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00">
                <a:solidFill>
                  <a:srgbClr val="6B5B73"/>
                </a:solidFill>
              </a:rPr>
              <a:t>Categorical levels replace arbitrary percentage probabilities, providing defensible standards for judicial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Deterministic core, AI at the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09 · WHERE AI SITS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2362200" cy="292608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0352" y="1188720"/>
            <a:ext cx="402336" cy="402336"/>
          </a:xfrm>
          <a:prstGeom prst="ellipse">
            <a:avLst/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" y="1297350"/>
            <a:ext cx="185074" cy="1850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4128" y="1188720"/>
            <a:ext cx="1630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E1A3A"/>
                </a:solidFill>
                <a:latin typeface="Courier New" panose="02070609020205020404"/>
              </a:rPr>
              <a:t>DETERMINISTIC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0421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dirty="0" b="0" sz="850">
                <a:solidFill>
                  <a:srgbClr val="4A3E56"/>
                </a:solidFill>
              </a:rPr>
              <a:t>SHA-256 intake hashing &amp; verification</a:t>
            </a:r>
          </a:p>
          <a:p>
            <a:pPr>
              <a:spcAft>
                <a:spcPts val="400"/>
              </a:spcAft>
            </a:pPr>
            <a:r>
              <a:rPr lang="en-US" dirty="0" b="0" sz="850">
                <a:solidFill>
                  <a:srgbClr val="4A3E56"/>
                </a:solidFill>
              </a:rPr>
              <a:t>ABAC policy &amp; evidence routing</a:t>
            </a:r>
          </a:p>
          <a:p>
            <a:pPr>
              <a:spcAft>
                <a:spcPts val="400"/>
              </a:spcAft>
            </a:pPr>
            <a:r>
              <a:rPr lang="en-US" dirty="0" b="0" sz="850">
                <a:solidFill>
                  <a:srgbClr val="4A3E56"/>
                </a:solidFill>
              </a:rPr>
              <a:t>Layer 1 physical feasibility (v &lt; 4 m/s)</a:t>
            </a:r>
          </a:p>
          <a:p>
            <a:pPr/>
            <a:r>
              <a:rPr lang="en-US" dirty="0" b="0" sz="850">
                <a:solidFill>
                  <a:srgbClr val="4A3E56"/>
                </a:solidFill>
              </a:rPr>
              <a:t>Topological 45-engine DAG sequencer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5120" y="1051560"/>
            <a:ext cx="2362200" cy="292608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029712" y="1188720"/>
            <a:ext cx="402336" cy="402336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342" y="1297350"/>
            <a:ext cx="185074" cy="1850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23488" y="1188720"/>
            <a:ext cx="1630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E1A3A"/>
                </a:solidFill>
                <a:latin typeface="Courier New" panose="02070609020205020404"/>
              </a:rPr>
              <a:t>AI-ASSISTED (GEMINI)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0" y="1828800"/>
            <a:ext cx="20421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dirty="0" b="0" sz="850">
                <a:solidFill>
                  <a:srgbClr val="4A3E56"/>
                </a:solidFill>
              </a:rPr>
              <a:t>Layer 2 adversarial counter-scrutiny</a:t>
            </a:r>
          </a:p>
          <a:p>
            <a:pPr>
              <a:spcAft>
                <a:spcPts val="400"/>
              </a:spcAft>
            </a:pPr>
            <a:r>
              <a:rPr lang="en-US" dirty="0" b="0" sz="850">
                <a:solidFill>
                  <a:srgbClr val="4A3E56"/>
                </a:solidFill>
              </a:rPr>
              <a:t>Multimodal feature &amp; damage extraction</a:t>
            </a:r>
          </a:p>
          <a:p>
            <a:pPr>
              <a:spcAft>
                <a:spcPts val="400"/>
              </a:spcAft>
            </a:pPr>
            <a:r>
              <a:rPr lang="en-US" dirty="0" b="0" sz="850">
                <a:solidFill>
                  <a:srgbClr val="4A3E56"/>
                </a:solidFill>
              </a:rPr>
              <a:t>Evidence-constrained hypothesis synthesis</a:t>
            </a:r>
          </a:p>
          <a:p>
            <a:pPr/>
            <a:r>
              <a:rPr lang="en-US" dirty="0" b="0" sz="850">
                <a:solidFill>
                  <a:srgbClr val="4A3E56"/>
                </a:solidFill>
              </a:rPr>
              <a:t>Dual-mode Investigation Copilot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4480" y="1051560"/>
            <a:ext cx="2362200" cy="292608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29072" y="1188720"/>
            <a:ext cx="402336" cy="402336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i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702" y="1297350"/>
            <a:ext cx="185074" cy="1850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22848" y="1188720"/>
            <a:ext cx="1630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E1A3A"/>
                </a:solidFill>
                <a:latin typeface="Courier New" panose="02070609020205020404"/>
              </a:rPr>
              <a:t>HUMAN-ONLY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7360" y="1828800"/>
            <a:ext cx="20421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dirty="0" b="0" sz="850">
                <a:solidFill>
                  <a:srgbClr val="4A3E56"/>
                </a:solidFill>
              </a:rPr>
              <a:t>Verification of AI observations &amp; findings</a:t>
            </a:r>
          </a:p>
          <a:p>
            <a:pPr>
              <a:spcAft>
                <a:spcPts val="400"/>
              </a:spcAft>
            </a:pPr>
            <a:r>
              <a:rPr lang="en-US" dirty="0" b="0" sz="850">
                <a:solidFill>
                  <a:srgbClr val="4A3E56"/>
                </a:solidFill>
              </a:rPr>
              <a:t>Confirmation of candidate entity links</a:t>
            </a:r>
          </a:p>
          <a:p>
            <a:pPr>
              <a:spcAft>
                <a:spcPts val="400"/>
              </a:spcAft>
            </a:pPr>
            <a:r>
              <a:rPr lang="en-US" dirty="0" b="0" sz="850">
                <a:solidFill>
                  <a:srgbClr val="4A3E56"/>
                </a:solidFill>
              </a:rPr>
              <a:t>Final hypothesis evaluation &amp; sign-off</a:t>
            </a:r>
          </a:p>
          <a:p>
            <a:pPr/>
            <a:r>
              <a:rPr lang="en-US" dirty="0" b="0" sz="850">
                <a:solidFill>
                  <a:srgbClr val="4A3E56"/>
                </a:solidFill>
              </a:rPr>
              <a:t>Legal admissibility &amp; culpability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60520"/>
            <a:ext cx="7360920" cy="502920"/>
          </a:xfrm>
          <a:prstGeom prst="roundRect">
            <a:avLst>
              <a:gd name="adj" fmla="val 16363"/>
            </a:avLst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28739"/>
                </a:solidFill>
                <a:latin typeface="Courier New" panose="02070609020205020404"/>
              </a:rPr>
              <a:t>INVESTIGATION COPILOT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4288536"/>
            <a:ext cx="1117396" cy="246888"/>
          </a:xfrm>
          <a:prstGeom prst="roundRect">
            <a:avLst>
              <a:gd name="adj" fmla="val 50000"/>
            </a:avLst>
          </a:prstGeom>
          <a:solidFill>
            <a:srgbClr val="03A78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EVIDENCE_ONLY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75964" y="4288536"/>
            <a:ext cx="1185062" cy="246888"/>
          </a:xfrm>
          <a:prstGeom prst="roundRect">
            <a:avLst>
              <a:gd name="adj" fmla="val 50000"/>
            </a:avLst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REASONING_MODE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3907" y="4160520"/>
            <a:ext cx="28913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4A3E56"/>
                </a:solidFill>
              </a:rPr>
              <a:t>Two modes protected by strict safety guardrails that intercept verdict and guilt declarations.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Testing and codebase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10 ·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2011680" cy="3749039"/>
          </a:xfrm>
          <a:prstGeom prst="roundRect">
            <a:avLst>
              <a:gd name="adj" fmla="val 4090"/>
            </a:avLst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 panose="020B0704020202020204"/>
              </a:rPr>
              <a:t>17/17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7E6F4"/>
                </a:solidFill>
                <a:latin typeface="Arial" panose="020B0704020202020204"/>
              </a:rPr>
              <a:t>automated test suites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850">
                <a:solidFill>
                  <a:srgbClr val="6B5B73"/>
                </a:solidFill>
              </a:rPr>
              <a:t>Integration and unit test suites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6B5B7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Pytest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75303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6B5B7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Pytest-Asyncio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04487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6B5B7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 panose="02070609020205020404"/>
              </a:rPr>
              <a:t>HTTPX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05156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633472" y="1170431"/>
            <a:ext cx="310896" cy="310896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i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13" y="1254373"/>
            <a:ext cx="143012" cy="1430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4952" y="10515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1" sz="900">
                <a:solidFill>
                  <a:srgbClr val="2E1A3A"/>
                </a:solidFill>
              </a:rPr>
              <a:t>JWT &amp; Firebase session 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1691639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633472" y="1810512"/>
            <a:ext cx="310896" cy="310896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i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13" y="1894453"/>
            <a:ext cx="143012" cy="1430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44952" y="1691639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1" sz="900">
                <a:solidFill>
                  <a:srgbClr val="2E1A3A"/>
                </a:solidFill>
              </a:rPr>
              <a:t>ABAC policy enforcement matrix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233172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633472" y="2450591"/>
            <a:ext cx="310896" cy="310896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i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13" y="2534533"/>
            <a:ext cx="143012" cy="1430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44952" y="23317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1" sz="900">
                <a:solidFill>
                  <a:srgbClr val="2E1A3A"/>
                </a:solidFill>
              </a:rPr>
              <a:t>Departmental evidence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2971799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633472" y="3090671"/>
            <a:ext cx="310896" cy="310896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i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13" y="3174613"/>
            <a:ext cx="143012" cy="1430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044952" y="2971799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1" sz="900">
                <a:solidFill>
                  <a:srgbClr val="2E1A3A"/>
                </a:solidFill>
              </a:rPr>
              <a:t>Cross-source timeline correlation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3611879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633472" y="3730752"/>
            <a:ext cx="310896" cy="310896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i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13" y="3814693"/>
            <a:ext cx="143012" cy="1430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044952" y="3611879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1" sz="900">
                <a:solidFill>
                  <a:srgbClr val="2E1A3A"/>
                </a:solidFill>
              </a:rPr>
              <a:t>Multi-hypothesis reconstruction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4600" y="425196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33472" y="4370832"/>
            <a:ext cx="310896" cy="310896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i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13" y="4454773"/>
            <a:ext cx="143012" cy="1430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044952" y="42519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1" sz="900">
                <a:solidFill>
                  <a:srgbClr val="2E1A3A"/>
                </a:solidFill>
              </a:rPr>
              <a:t>Non-verdict &amp; Copilot safeguards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94960" y="1051560"/>
            <a:ext cx="2331720" cy="3749039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5440680" y="1417320"/>
          <a:ext cx="22402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532120" y="116128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E1A3A"/>
                </a:solidFill>
                <a:latin typeface="Arial" panose="020B0704020202020204"/>
              </a:rPr>
              <a:t>Codebase composition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Running RRE locally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11 ·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4114800" cy="3749039"/>
          </a:xfrm>
          <a:prstGeom prst="roundRect">
            <a:avLst>
              <a:gd name="adj" fmla="val 2195"/>
            </a:avLst>
          </a:prstGeom>
          <a:solidFill>
            <a:srgbClr val="2E1A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207008"/>
            <a:ext cx="100584" cy="100584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207008"/>
            <a:ext cx="100584" cy="100584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207008"/>
            <a:ext cx="100584" cy="100584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3749039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28739"/>
                </a:solidFill>
                <a:latin typeface="Courier New" panose="02070609020205020404"/>
              </a:rPr>
              <a:t># 1 · backend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python -m venv .venv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source .venv/bin/activate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pip install -r requirements.txt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uvicorn app.main:app --reload --port 8000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28739"/>
                </a:solidFill>
                <a:latin typeface="Courier New" panose="02070609020205020404"/>
              </a:rPr>
              <a:t># 2 · frontend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cd frontend &amp;&amp; npm install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npm run dev          # :5173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28739"/>
                </a:solidFill>
                <a:latin typeface="Courier New" panose="02070609020205020404"/>
              </a:rPr>
              <a:t># 3 · verify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pytest -v            # 17 suites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Courier New" panose="02070609020205020404"/>
              </a:rPr>
              <a:t>open :8000/docs      # Swagger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3063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2" y="117043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REPO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444752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app/        FastAPI backend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frontend/   React + Vite UI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tests/      pytest suites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scripts/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docker-compose.yml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pyproject.toml · requirements.txt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971800"/>
            <a:ext cx="3063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2" y="309067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ENVIRONMENT (.env)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364992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DATABASE_URL  SQLite or Postgres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GEMINI_API_KEY Gemini access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LLM_MODEL     model name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SECRET_KEY    JWT signing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2B2230"/>
                </a:solidFill>
                <a:latin typeface="Courier New" panose="02070609020205020404"/>
              </a:rPr>
              <a:t>APP_NAME · ENVIRONMENT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84048"/>
            <a:ext cx="6217920" cy="502920"/>
          </a:xfrm>
        </p:spPr>
        <p:txBody>
          <a:bodyPr lIns="0" tIns="0" rIns="0" bIns="0" anchor="t"/>
          <a:lstStyle/>
          <a:p>
            <a:pPr algn="l"/>
            <a:r>
              <a:rPr sz="2400" b="1">
                <a:solidFill>
                  <a:srgbClr val="2E1A3A"/>
                </a:solidFill>
                <a:latin typeface="Arial" panose="020B0704020202020204"/>
              </a:rPr>
              <a:t>Key technical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93296"/>
                </a:solidFill>
                <a:latin typeface="Courier New" panose="02070609020205020404"/>
              </a:rPr>
              <a:t>12 ·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73609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344168"/>
            <a:ext cx="457200" cy="457200"/>
          </a:xfrm>
          <a:prstGeom prst="ellipse">
            <a:avLst/>
          </a:prstGeom>
          <a:solidFill>
            <a:srgbClr val="A9329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 panose="02070609020205020404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34439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1" sz="1200">
                <a:solidFill>
                  <a:srgbClr val="2E1A3A"/>
                </a:solidFill>
              </a:rPr>
              <a:t>Traceable by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81912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900">
                <a:solidFill>
                  <a:srgbClr val="4A3E56"/>
                </a:solidFill>
              </a:rPr>
              <a:t>Hardware SHA-256 at intake and an 8-tier evidentiary chain ensure every claim traces directly back to an immutable, vaulted exhibit.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86000"/>
            <a:ext cx="73609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2578608"/>
            <a:ext cx="457200" cy="457200"/>
          </a:xfrm>
          <a:prstGeom prst="ellipse">
            <a:avLst/>
          </a:prstGeom>
          <a:solidFill>
            <a:srgbClr val="F287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 panose="02070609020205020404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6888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1" sz="1200">
                <a:solidFill>
                  <a:srgbClr val="2E1A3A"/>
                </a:solidFill>
              </a:rPr>
              <a:t>Self-challenging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16352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900">
                <a:solidFill>
                  <a:srgbClr val="4A3E56"/>
                </a:solidFill>
              </a:rPr>
              <a:t>Layer 1 enforces deterministic physical laws (velocity, time monotonicity), while Layer 2 simulates adversarial defense scrutiny to surface reasonable doubt.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520440"/>
            <a:ext cx="73609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BD3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" y="3813048"/>
            <a:ext cx="457200" cy="457200"/>
          </a:xfrm>
          <a:prstGeom prst="ellipse">
            <a:avLst/>
          </a:prstGeom>
          <a:solidFill>
            <a:srgbClr val="03A78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 panose="02070609020205020404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0332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1" sz="1200">
                <a:solidFill>
                  <a:srgbClr val="2E1A3A"/>
                </a:solidFill>
              </a:rPr>
              <a:t>Non-verdict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50791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b="0" sz="900">
                <a:solidFill>
                  <a:srgbClr val="4A3E56"/>
                </a:solidFill>
              </a:rPr>
              <a:t>Categorical legal support ratings (Strong to Refuted) and mandatory human-in-the-loop review ensure the engine assists investigators without ever declaring guilt.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b="1">
                <a:solidFill>
                  <a:srgbClr val="2E1A3A"/>
                </a:solidFill>
              </a:rPr>
              <a:t>Thank You!!!</a:t>
            </a:r>
            <a:endParaRPr lang="en-US"/>
          </a:p>
        </p:txBody>
      </p:sp>
      <p:sp>
        <p:nvSpPr>
          <p:cNvPr id="641" name="Google Shape;641;p75"/>
          <p:cNvSpPr txBox="1">
            <a:spLocks noGrp="1"/>
          </p:cNvSpPr>
          <p:nvPr>
            <p:ph type="subTitle" idx="1"/>
          </p:nvPr>
        </p:nvSpPr>
        <p:spPr>
          <a:xfrm>
            <a:off x="1097280" y="27432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1400" b="1">
                <a:solidFill>
                  <a:srgbClr val="A93296"/>
                </a:solidFill>
                <a:latin typeface="Arial" panose="020B0704020202020204"/>
              </a:rPr>
              <a:t>Reality Reconstruction Engine (RRE 2.0)</a:t>
            </a:r>
          </a:p>
          <a:p>
            <a:pPr algn="ctr"/>
            <a:r>
              <a:rPr sz="1100">
                <a:solidFill>
                  <a:srgbClr val="2B2230"/>
                </a:solidFill>
                <a:latin typeface="Arial" panose="020B0704020202020204"/>
              </a:rPr>
              <a:t>Vaibhav Bariyar · Bhakti Unhale · Shruti Jadhav · Atharva Gandhi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1175</Words>
  <Application>Microsoft Office PowerPoint</Application>
  <PresentationFormat>On-screen Show (16:9)</PresentationFormat>
  <Paragraphs>269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Times New Roman</vt:lpstr>
      <vt:lpstr>Simple Light</vt:lpstr>
      <vt:lpstr>Reality Reconstruction Engine</vt:lpstr>
      <vt:lpstr>Tech stack at a glance</vt:lpstr>
      <vt:lpstr>End-to-end pipeline</vt:lpstr>
      <vt:lpstr>Evidence vault: integrity at intake</vt:lpstr>
      <vt:lpstr>Eight layers: file to verified finding</vt:lpstr>
      <vt:lpstr>Policy routing and role-based access</vt:lpstr>
      <vt:lpstr>Cross-source correlation</vt:lpstr>
      <vt:lpstr>Two-layer validation and support levels</vt:lpstr>
      <vt:lpstr>Deterministic core, AI at the edges</vt:lpstr>
      <vt:lpstr>Testing and codebase</vt:lpstr>
      <vt:lpstr>Running RRE locally</vt:lpstr>
      <vt:lpstr>Key technical takeaways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STORAGE AND ITS DATABASE</dc:title>
  <dc:creator>MyIdeapad</dc:creator>
  <cp:lastModifiedBy>SY11_13Atharva Gandhi</cp:lastModifiedBy>
  <cp:revision>6</cp:revision>
  <dcterms:created xsi:type="dcterms:W3CDTF">2026-10-09T17:10:37Z</dcterms:created>
  <dcterms:modified xsi:type="dcterms:W3CDTF">2026-10-11T05:31:06Z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736795080D68028A731EC96ACF3378DF_42</vt:lpwstr>
  </property>
  <property fmtid="{D5CDD505-2E9C-101B-9397-08002B2CF9AE}" pid="3" name="KSOProductBuildVer">
    <vt:lpwstr>1033-12.1.23155.23155</vt:lpwstr>
  </property>
</Properties>
</file>